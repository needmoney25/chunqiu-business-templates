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58" r:id="rId6"/>
    <p:sldId id="261" r:id="rId7"/>
    <p:sldId id="262" r:id="rId8"/>
    <p:sldId id="263" r:id="rId9"/>
    <p:sldId id="266"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9" d="100"/>
          <a:sy n="89" d="100"/>
        </p:scale>
        <p:origin x="120" y="5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B6FD4-59C9-469B-E668-C5E8C8CF7AA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6B07A76-0C3B-87D7-017F-464B1C94C3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0D1E095-25E3-3AB5-2061-147FFE4883E2}"/>
              </a:ext>
            </a:extLst>
          </p:cNvPr>
          <p:cNvSpPr>
            <a:spLocks noGrp="1"/>
          </p:cNvSpPr>
          <p:nvPr>
            <p:ph type="dt" sz="half" idx="10"/>
          </p:nvPr>
        </p:nvSpPr>
        <p:spPr/>
        <p:txBody>
          <a:bodyPr/>
          <a:lstStyle/>
          <a:p>
            <a:fld id="{16FFB9DD-143F-4010-82C4-E22CA2301370}" type="datetimeFigureOut">
              <a:rPr lang="zh-CN" altLang="en-US" smtClean="0"/>
              <a:t>2026/6/12</a:t>
            </a:fld>
            <a:endParaRPr lang="zh-CN" altLang="en-US"/>
          </a:p>
        </p:txBody>
      </p:sp>
      <p:sp>
        <p:nvSpPr>
          <p:cNvPr id="5" name="页脚占位符 4">
            <a:extLst>
              <a:ext uri="{FF2B5EF4-FFF2-40B4-BE49-F238E27FC236}">
                <a16:creationId xmlns:a16="http://schemas.microsoft.com/office/drawing/2014/main" id="{E8E5D704-5D52-3A68-6A94-E4B99F0BE4C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C58187E-E77E-CA72-4D20-B46A63142526}"/>
              </a:ext>
            </a:extLst>
          </p:cNvPr>
          <p:cNvSpPr>
            <a:spLocks noGrp="1"/>
          </p:cNvSpPr>
          <p:nvPr>
            <p:ph type="sldNum" sz="quarter" idx="12"/>
          </p:nvPr>
        </p:nvSpPr>
        <p:spPr/>
        <p:txBody>
          <a:bodyPr/>
          <a:lstStyle/>
          <a:p>
            <a:fld id="{2CD9CCBA-94F9-47A8-BB24-52C7CEBE6AE3}" type="slidenum">
              <a:rPr lang="zh-CN" altLang="en-US" smtClean="0"/>
              <a:t>‹#›</a:t>
            </a:fld>
            <a:endParaRPr lang="zh-CN" altLang="en-US"/>
          </a:p>
        </p:txBody>
      </p:sp>
    </p:spTree>
    <p:extLst>
      <p:ext uri="{BB962C8B-B14F-4D97-AF65-F5344CB8AC3E}">
        <p14:creationId xmlns:p14="http://schemas.microsoft.com/office/powerpoint/2010/main" val="4205979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4D5193-B3B1-B077-6705-05A104654EA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75D9903-61A4-EAAA-88FE-66ADF15E8B0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C690F29-1BD8-B72D-FCDB-1CC3DF43E505}"/>
              </a:ext>
            </a:extLst>
          </p:cNvPr>
          <p:cNvSpPr>
            <a:spLocks noGrp="1"/>
          </p:cNvSpPr>
          <p:nvPr>
            <p:ph type="dt" sz="half" idx="10"/>
          </p:nvPr>
        </p:nvSpPr>
        <p:spPr/>
        <p:txBody>
          <a:bodyPr/>
          <a:lstStyle/>
          <a:p>
            <a:fld id="{16FFB9DD-143F-4010-82C4-E22CA2301370}" type="datetimeFigureOut">
              <a:rPr lang="zh-CN" altLang="en-US" smtClean="0"/>
              <a:t>2026/6/12</a:t>
            </a:fld>
            <a:endParaRPr lang="zh-CN" altLang="en-US"/>
          </a:p>
        </p:txBody>
      </p:sp>
      <p:sp>
        <p:nvSpPr>
          <p:cNvPr id="5" name="页脚占位符 4">
            <a:extLst>
              <a:ext uri="{FF2B5EF4-FFF2-40B4-BE49-F238E27FC236}">
                <a16:creationId xmlns:a16="http://schemas.microsoft.com/office/drawing/2014/main" id="{64F8820B-9349-1852-8839-82C5E7C9850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75B0A9-B449-B921-36CB-A92A782B1B2F}"/>
              </a:ext>
            </a:extLst>
          </p:cNvPr>
          <p:cNvSpPr>
            <a:spLocks noGrp="1"/>
          </p:cNvSpPr>
          <p:nvPr>
            <p:ph type="sldNum" sz="quarter" idx="12"/>
          </p:nvPr>
        </p:nvSpPr>
        <p:spPr/>
        <p:txBody>
          <a:bodyPr/>
          <a:lstStyle/>
          <a:p>
            <a:fld id="{2CD9CCBA-94F9-47A8-BB24-52C7CEBE6AE3}" type="slidenum">
              <a:rPr lang="zh-CN" altLang="en-US" smtClean="0"/>
              <a:t>‹#›</a:t>
            </a:fld>
            <a:endParaRPr lang="zh-CN" altLang="en-US"/>
          </a:p>
        </p:txBody>
      </p:sp>
    </p:spTree>
    <p:extLst>
      <p:ext uri="{BB962C8B-B14F-4D97-AF65-F5344CB8AC3E}">
        <p14:creationId xmlns:p14="http://schemas.microsoft.com/office/powerpoint/2010/main" val="3372211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57D616-27D4-F906-D1F7-5F6C8AD01E7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E545CCA-D695-D268-8FB0-0B3DF92F37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ECEC612-9E61-BD0E-6E23-EBD98A8B8BEC}"/>
              </a:ext>
            </a:extLst>
          </p:cNvPr>
          <p:cNvSpPr>
            <a:spLocks noGrp="1"/>
          </p:cNvSpPr>
          <p:nvPr>
            <p:ph type="dt" sz="half" idx="10"/>
          </p:nvPr>
        </p:nvSpPr>
        <p:spPr/>
        <p:txBody>
          <a:bodyPr/>
          <a:lstStyle/>
          <a:p>
            <a:fld id="{16FFB9DD-143F-4010-82C4-E22CA2301370}" type="datetimeFigureOut">
              <a:rPr lang="zh-CN" altLang="en-US" smtClean="0"/>
              <a:t>2026/6/12</a:t>
            </a:fld>
            <a:endParaRPr lang="zh-CN" altLang="en-US"/>
          </a:p>
        </p:txBody>
      </p:sp>
      <p:sp>
        <p:nvSpPr>
          <p:cNvPr id="5" name="页脚占位符 4">
            <a:extLst>
              <a:ext uri="{FF2B5EF4-FFF2-40B4-BE49-F238E27FC236}">
                <a16:creationId xmlns:a16="http://schemas.microsoft.com/office/drawing/2014/main" id="{9F6FD9F0-5F73-8314-4A8E-C3C45000024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5A8028A-B8E3-CFB8-2720-72E275C8DDB6}"/>
              </a:ext>
            </a:extLst>
          </p:cNvPr>
          <p:cNvSpPr>
            <a:spLocks noGrp="1"/>
          </p:cNvSpPr>
          <p:nvPr>
            <p:ph type="sldNum" sz="quarter" idx="12"/>
          </p:nvPr>
        </p:nvSpPr>
        <p:spPr/>
        <p:txBody>
          <a:bodyPr/>
          <a:lstStyle/>
          <a:p>
            <a:fld id="{2CD9CCBA-94F9-47A8-BB24-52C7CEBE6AE3}" type="slidenum">
              <a:rPr lang="zh-CN" altLang="en-US" smtClean="0"/>
              <a:t>‹#›</a:t>
            </a:fld>
            <a:endParaRPr lang="zh-CN" altLang="en-US"/>
          </a:p>
        </p:txBody>
      </p:sp>
    </p:spTree>
    <p:extLst>
      <p:ext uri="{BB962C8B-B14F-4D97-AF65-F5344CB8AC3E}">
        <p14:creationId xmlns:p14="http://schemas.microsoft.com/office/powerpoint/2010/main" val="2027158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CF68BB-7466-D7FB-05AB-2A4C4A0057E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0BA5ED7-DF32-0183-7FDB-97B64B3A67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7D67EC2-49C7-9D81-B946-A3C38D3089A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6F22716-9F87-7E72-6376-13EF5F8FEF9F}"/>
              </a:ext>
            </a:extLst>
          </p:cNvPr>
          <p:cNvSpPr>
            <a:spLocks noGrp="1"/>
          </p:cNvSpPr>
          <p:nvPr>
            <p:ph type="dt" sz="half" idx="10"/>
          </p:nvPr>
        </p:nvSpPr>
        <p:spPr/>
        <p:txBody>
          <a:bodyPr/>
          <a:lstStyle/>
          <a:p>
            <a:fld id="{16FFB9DD-143F-4010-82C4-E22CA2301370}" type="datetimeFigureOut">
              <a:rPr lang="zh-CN" altLang="en-US" smtClean="0"/>
              <a:t>2026/6/12</a:t>
            </a:fld>
            <a:endParaRPr lang="zh-CN" altLang="en-US"/>
          </a:p>
        </p:txBody>
      </p:sp>
      <p:sp>
        <p:nvSpPr>
          <p:cNvPr id="6" name="页脚占位符 5">
            <a:extLst>
              <a:ext uri="{FF2B5EF4-FFF2-40B4-BE49-F238E27FC236}">
                <a16:creationId xmlns:a16="http://schemas.microsoft.com/office/drawing/2014/main" id="{BD259FFE-982A-B07F-7ED1-698D8D13332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FBD7D31-931F-5BE9-1FAC-348E4D62B191}"/>
              </a:ext>
            </a:extLst>
          </p:cNvPr>
          <p:cNvSpPr>
            <a:spLocks noGrp="1"/>
          </p:cNvSpPr>
          <p:nvPr>
            <p:ph type="sldNum" sz="quarter" idx="12"/>
          </p:nvPr>
        </p:nvSpPr>
        <p:spPr/>
        <p:txBody>
          <a:bodyPr/>
          <a:lstStyle/>
          <a:p>
            <a:fld id="{2CD9CCBA-94F9-47A8-BB24-52C7CEBE6AE3}" type="slidenum">
              <a:rPr lang="zh-CN" altLang="en-US" smtClean="0"/>
              <a:t>‹#›</a:t>
            </a:fld>
            <a:endParaRPr lang="zh-CN" altLang="en-US"/>
          </a:p>
        </p:txBody>
      </p:sp>
    </p:spTree>
    <p:extLst>
      <p:ext uri="{BB962C8B-B14F-4D97-AF65-F5344CB8AC3E}">
        <p14:creationId xmlns:p14="http://schemas.microsoft.com/office/powerpoint/2010/main" val="966315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665B76-1675-8976-5ACF-CFF880CC53A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FBA9ED0-BB8E-0B8A-FB8D-DA656FC1E1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753C93-C309-D822-E31B-7B5272E69AA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F221133-E485-AECE-4AAF-4CCBE814D5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8C94594-9215-B69E-B4A7-664704EE57C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3739ED4-76A1-ED5B-688D-51C2D914BE29}"/>
              </a:ext>
            </a:extLst>
          </p:cNvPr>
          <p:cNvSpPr>
            <a:spLocks noGrp="1"/>
          </p:cNvSpPr>
          <p:nvPr>
            <p:ph type="dt" sz="half" idx="10"/>
          </p:nvPr>
        </p:nvSpPr>
        <p:spPr/>
        <p:txBody>
          <a:bodyPr/>
          <a:lstStyle/>
          <a:p>
            <a:fld id="{16FFB9DD-143F-4010-82C4-E22CA2301370}" type="datetimeFigureOut">
              <a:rPr lang="zh-CN" altLang="en-US" smtClean="0"/>
              <a:t>2026/6/12</a:t>
            </a:fld>
            <a:endParaRPr lang="zh-CN" altLang="en-US"/>
          </a:p>
        </p:txBody>
      </p:sp>
      <p:sp>
        <p:nvSpPr>
          <p:cNvPr id="8" name="页脚占位符 7">
            <a:extLst>
              <a:ext uri="{FF2B5EF4-FFF2-40B4-BE49-F238E27FC236}">
                <a16:creationId xmlns:a16="http://schemas.microsoft.com/office/drawing/2014/main" id="{E916ED8D-52F7-49B7-E6D2-43DC5D218D0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8012A88-223F-409A-2D7C-31C9F2FB7763}"/>
              </a:ext>
            </a:extLst>
          </p:cNvPr>
          <p:cNvSpPr>
            <a:spLocks noGrp="1"/>
          </p:cNvSpPr>
          <p:nvPr>
            <p:ph type="sldNum" sz="quarter" idx="12"/>
          </p:nvPr>
        </p:nvSpPr>
        <p:spPr/>
        <p:txBody>
          <a:bodyPr/>
          <a:lstStyle/>
          <a:p>
            <a:fld id="{2CD9CCBA-94F9-47A8-BB24-52C7CEBE6AE3}" type="slidenum">
              <a:rPr lang="zh-CN" altLang="en-US" smtClean="0"/>
              <a:t>‹#›</a:t>
            </a:fld>
            <a:endParaRPr lang="zh-CN" altLang="en-US"/>
          </a:p>
        </p:txBody>
      </p:sp>
    </p:spTree>
    <p:extLst>
      <p:ext uri="{BB962C8B-B14F-4D97-AF65-F5344CB8AC3E}">
        <p14:creationId xmlns:p14="http://schemas.microsoft.com/office/powerpoint/2010/main" val="3603417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059317-F9CB-A917-E71E-5BC93B2E225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35C2818-44D0-785D-5775-7195957D2AE3}"/>
              </a:ext>
            </a:extLst>
          </p:cNvPr>
          <p:cNvSpPr>
            <a:spLocks noGrp="1"/>
          </p:cNvSpPr>
          <p:nvPr>
            <p:ph type="dt" sz="half" idx="10"/>
          </p:nvPr>
        </p:nvSpPr>
        <p:spPr/>
        <p:txBody>
          <a:bodyPr/>
          <a:lstStyle/>
          <a:p>
            <a:fld id="{16FFB9DD-143F-4010-82C4-E22CA2301370}" type="datetimeFigureOut">
              <a:rPr lang="zh-CN" altLang="en-US" smtClean="0"/>
              <a:t>2026/6/12</a:t>
            </a:fld>
            <a:endParaRPr lang="zh-CN" altLang="en-US"/>
          </a:p>
        </p:txBody>
      </p:sp>
      <p:sp>
        <p:nvSpPr>
          <p:cNvPr id="4" name="页脚占位符 3">
            <a:extLst>
              <a:ext uri="{FF2B5EF4-FFF2-40B4-BE49-F238E27FC236}">
                <a16:creationId xmlns:a16="http://schemas.microsoft.com/office/drawing/2014/main" id="{32466E84-CA1F-6721-B257-351769C20AB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B654615-B61E-C0ED-C0FE-20DF3390A2A0}"/>
              </a:ext>
            </a:extLst>
          </p:cNvPr>
          <p:cNvSpPr>
            <a:spLocks noGrp="1"/>
          </p:cNvSpPr>
          <p:nvPr>
            <p:ph type="sldNum" sz="quarter" idx="12"/>
          </p:nvPr>
        </p:nvSpPr>
        <p:spPr/>
        <p:txBody>
          <a:bodyPr/>
          <a:lstStyle/>
          <a:p>
            <a:fld id="{2CD9CCBA-94F9-47A8-BB24-52C7CEBE6AE3}" type="slidenum">
              <a:rPr lang="zh-CN" altLang="en-US" smtClean="0"/>
              <a:t>‹#›</a:t>
            </a:fld>
            <a:endParaRPr lang="zh-CN" altLang="en-US"/>
          </a:p>
        </p:txBody>
      </p:sp>
    </p:spTree>
    <p:extLst>
      <p:ext uri="{BB962C8B-B14F-4D97-AF65-F5344CB8AC3E}">
        <p14:creationId xmlns:p14="http://schemas.microsoft.com/office/powerpoint/2010/main" val="2182646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93BDB52-AB30-7D0E-D103-D7BCC506179A}"/>
              </a:ext>
            </a:extLst>
          </p:cNvPr>
          <p:cNvSpPr>
            <a:spLocks noGrp="1"/>
          </p:cNvSpPr>
          <p:nvPr>
            <p:ph type="dt" sz="half" idx="10"/>
          </p:nvPr>
        </p:nvSpPr>
        <p:spPr/>
        <p:txBody>
          <a:bodyPr/>
          <a:lstStyle/>
          <a:p>
            <a:fld id="{16FFB9DD-143F-4010-82C4-E22CA2301370}" type="datetimeFigureOut">
              <a:rPr lang="zh-CN" altLang="en-US" smtClean="0"/>
              <a:t>2026/6/12</a:t>
            </a:fld>
            <a:endParaRPr lang="zh-CN" altLang="en-US"/>
          </a:p>
        </p:txBody>
      </p:sp>
      <p:sp>
        <p:nvSpPr>
          <p:cNvPr id="3" name="页脚占位符 2">
            <a:extLst>
              <a:ext uri="{FF2B5EF4-FFF2-40B4-BE49-F238E27FC236}">
                <a16:creationId xmlns:a16="http://schemas.microsoft.com/office/drawing/2014/main" id="{1C8D9603-69AF-40A2-1EE6-3066463299D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BE9F8AF-CD15-6443-798E-31FAF807D9C4}"/>
              </a:ext>
            </a:extLst>
          </p:cNvPr>
          <p:cNvSpPr>
            <a:spLocks noGrp="1"/>
          </p:cNvSpPr>
          <p:nvPr>
            <p:ph type="sldNum" sz="quarter" idx="12"/>
          </p:nvPr>
        </p:nvSpPr>
        <p:spPr/>
        <p:txBody>
          <a:bodyPr/>
          <a:lstStyle/>
          <a:p>
            <a:fld id="{2CD9CCBA-94F9-47A8-BB24-52C7CEBE6AE3}" type="slidenum">
              <a:rPr lang="zh-CN" altLang="en-US" smtClean="0"/>
              <a:t>‹#›</a:t>
            </a:fld>
            <a:endParaRPr lang="zh-CN" altLang="en-US"/>
          </a:p>
        </p:txBody>
      </p:sp>
    </p:spTree>
    <p:extLst>
      <p:ext uri="{BB962C8B-B14F-4D97-AF65-F5344CB8AC3E}">
        <p14:creationId xmlns:p14="http://schemas.microsoft.com/office/powerpoint/2010/main" val="1839855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2D1538-EC12-F628-B2DB-7124D94AAC1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7D6D462-D109-8B3D-B99F-77C8046F57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CAB6825-9EE6-4D69-19D1-8E15FE2233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281DBA1-8EF3-21E0-86ED-D37DB58D6669}"/>
              </a:ext>
            </a:extLst>
          </p:cNvPr>
          <p:cNvSpPr>
            <a:spLocks noGrp="1"/>
          </p:cNvSpPr>
          <p:nvPr>
            <p:ph type="dt" sz="half" idx="10"/>
          </p:nvPr>
        </p:nvSpPr>
        <p:spPr/>
        <p:txBody>
          <a:bodyPr/>
          <a:lstStyle/>
          <a:p>
            <a:fld id="{16FFB9DD-143F-4010-82C4-E22CA2301370}" type="datetimeFigureOut">
              <a:rPr lang="zh-CN" altLang="en-US" smtClean="0"/>
              <a:t>2026/6/12</a:t>
            </a:fld>
            <a:endParaRPr lang="zh-CN" altLang="en-US"/>
          </a:p>
        </p:txBody>
      </p:sp>
      <p:sp>
        <p:nvSpPr>
          <p:cNvPr id="6" name="页脚占位符 5">
            <a:extLst>
              <a:ext uri="{FF2B5EF4-FFF2-40B4-BE49-F238E27FC236}">
                <a16:creationId xmlns:a16="http://schemas.microsoft.com/office/drawing/2014/main" id="{DEE02C19-61CC-8DD5-0B46-9B148F40BD9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6947AC-8149-6E81-7DDF-4AE61D5FB2FF}"/>
              </a:ext>
            </a:extLst>
          </p:cNvPr>
          <p:cNvSpPr>
            <a:spLocks noGrp="1"/>
          </p:cNvSpPr>
          <p:nvPr>
            <p:ph type="sldNum" sz="quarter" idx="12"/>
          </p:nvPr>
        </p:nvSpPr>
        <p:spPr/>
        <p:txBody>
          <a:bodyPr/>
          <a:lstStyle/>
          <a:p>
            <a:fld id="{2CD9CCBA-94F9-47A8-BB24-52C7CEBE6AE3}" type="slidenum">
              <a:rPr lang="zh-CN" altLang="en-US" smtClean="0"/>
              <a:t>‹#›</a:t>
            </a:fld>
            <a:endParaRPr lang="zh-CN" altLang="en-US"/>
          </a:p>
        </p:txBody>
      </p:sp>
    </p:spTree>
    <p:extLst>
      <p:ext uri="{BB962C8B-B14F-4D97-AF65-F5344CB8AC3E}">
        <p14:creationId xmlns:p14="http://schemas.microsoft.com/office/powerpoint/2010/main" val="1579068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2587CA-9530-3215-97E5-8A518CF3833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AF97A2F-90C4-84E9-2CE6-59AAFD203C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6385708-C351-1AE8-4938-4EFD1404A6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CC8F89C-CD48-A2E8-0A2D-D58F6AB71B6C}"/>
              </a:ext>
            </a:extLst>
          </p:cNvPr>
          <p:cNvSpPr>
            <a:spLocks noGrp="1"/>
          </p:cNvSpPr>
          <p:nvPr>
            <p:ph type="dt" sz="half" idx="10"/>
          </p:nvPr>
        </p:nvSpPr>
        <p:spPr/>
        <p:txBody>
          <a:bodyPr/>
          <a:lstStyle/>
          <a:p>
            <a:fld id="{16FFB9DD-143F-4010-82C4-E22CA2301370}" type="datetimeFigureOut">
              <a:rPr lang="zh-CN" altLang="en-US" smtClean="0"/>
              <a:t>2026/6/12</a:t>
            </a:fld>
            <a:endParaRPr lang="zh-CN" altLang="en-US"/>
          </a:p>
        </p:txBody>
      </p:sp>
      <p:sp>
        <p:nvSpPr>
          <p:cNvPr id="6" name="页脚占位符 5">
            <a:extLst>
              <a:ext uri="{FF2B5EF4-FFF2-40B4-BE49-F238E27FC236}">
                <a16:creationId xmlns:a16="http://schemas.microsoft.com/office/drawing/2014/main" id="{63BE4FCD-AF39-B882-E12D-5E0CD24D18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FBFA0C3-3FA6-6246-DEEB-52B4A69DE1DF}"/>
              </a:ext>
            </a:extLst>
          </p:cNvPr>
          <p:cNvSpPr>
            <a:spLocks noGrp="1"/>
          </p:cNvSpPr>
          <p:nvPr>
            <p:ph type="sldNum" sz="quarter" idx="12"/>
          </p:nvPr>
        </p:nvSpPr>
        <p:spPr/>
        <p:txBody>
          <a:bodyPr/>
          <a:lstStyle/>
          <a:p>
            <a:fld id="{2CD9CCBA-94F9-47A8-BB24-52C7CEBE6AE3}" type="slidenum">
              <a:rPr lang="zh-CN" altLang="en-US" smtClean="0"/>
              <a:t>‹#›</a:t>
            </a:fld>
            <a:endParaRPr lang="zh-CN" altLang="en-US"/>
          </a:p>
        </p:txBody>
      </p:sp>
    </p:spTree>
    <p:extLst>
      <p:ext uri="{BB962C8B-B14F-4D97-AF65-F5344CB8AC3E}">
        <p14:creationId xmlns:p14="http://schemas.microsoft.com/office/powerpoint/2010/main" val="3317683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8D6ACC-3ABA-49F2-09CF-EFDF2700C7A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0FF75D7-100F-C663-F1CE-376197E157E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AA53368-1AE2-836F-BC16-B9738B5C2A96}"/>
              </a:ext>
            </a:extLst>
          </p:cNvPr>
          <p:cNvSpPr>
            <a:spLocks noGrp="1"/>
          </p:cNvSpPr>
          <p:nvPr>
            <p:ph type="dt" sz="half" idx="10"/>
          </p:nvPr>
        </p:nvSpPr>
        <p:spPr/>
        <p:txBody>
          <a:bodyPr/>
          <a:lstStyle/>
          <a:p>
            <a:fld id="{16FFB9DD-143F-4010-82C4-E22CA2301370}" type="datetimeFigureOut">
              <a:rPr lang="zh-CN" altLang="en-US" smtClean="0"/>
              <a:t>2026/6/12</a:t>
            </a:fld>
            <a:endParaRPr lang="zh-CN" altLang="en-US"/>
          </a:p>
        </p:txBody>
      </p:sp>
      <p:sp>
        <p:nvSpPr>
          <p:cNvPr id="5" name="页脚占位符 4">
            <a:extLst>
              <a:ext uri="{FF2B5EF4-FFF2-40B4-BE49-F238E27FC236}">
                <a16:creationId xmlns:a16="http://schemas.microsoft.com/office/drawing/2014/main" id="{FE6DE327-BD2B-4011-8C87-673CD59E86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09D136B-300D-2D9C-5BD8-89572464543E}"/>
              </a:ext>
            </a:extLst>
          </p:cNvPr>
          <p:cNvSpPr>
            <a:spLocks noGrp="1"/>
          </p:cNvSpPr>
          <p:nvPr>
            <p:ph type="sldNum" sz="quarter" idx="12"/>
          </p:nvPr>
        </p:nvSpPr>
        <p:spPr/>
        <p:txBody>
          <a:bodyPr/>
          <a:lstStyle/>
          <a:p>
            <a:fld id="{2CD9CCBA-94F9-47A8-BB24-52C7CEBE6AE3}" type="slidenum">
              <a:rPr lang="zh-CN" altLang="en-US" smtClean="0"/>
              <a:t>‹#›</a:t>
            </a:fld>
            <a:endParaRPr lang="zh-CN" altLang="en-US"/>
          </a:p>
        </p:txBody>
      </p:sp>
    </p:spTree>
    <p:extLst>
      <p:ext uri="{BB962C8B-B14F-4D97-AF65-F5344CB8AC3E}">
        <p14:creationId xmlns:p14="http://schemas.microsoft.com/office/powerpoint/2010/main" val="3067675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266E80B-3840-9779-57E8-7401D993A65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26DC5E0-432E-2238-48B3-777A825DFE2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E951EC-C1D1-7F09-16E0-74A714135F5A}"/>
              </a:ext>
            </a:extLst>
          </p:cNvPr>
          <p:cNvSpPr>
            <a:spLocks noGrp="1"/>
          </p:cNvSpPr>
          <p:nvPr>
            <p:ph type="dt" sz="half" idx="10"/>
          </p:nvPr>
        </p:nvSpPr>
        <p:spPr/>
        <p:txBody>
          <a:bodyPr/>
          <a:lstStyle/>
          <a:p>
            <a:fld id="{16FFB9DD-143F-4010-82C4-E22CA2301370}" type="datetimeFigureOut">
              <a:rPr lang="zh-CN" altLang="en-US" smtClean="0"/>
              <a:t>2026/6/12</a:t>
            </a:fld>
            <a:endParaRPr lang="zh-CN" altLang="en-US"/>
          </a:p>
        </p:txBody>
      </p:sp>
      <p:sp>
        <p:nvSpPr>
          <p:cNvPr id="5" name="页脚占位符 4">
            <a:extLst>
              <a:ext uri="{FF2B5EF4-FFF2-40B4-BE49-F238E27FC236}">
                <a16:creationId xmlns:a16="http://schemas.microsoft.com/office/drawing/2014/main" id="{FBE200C8-6E66-9855-8397-E3880069B7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99B576-5A96-3772-FC6E-9AC6AC8D04EF}"/>
              </a:ext>
            </a:extLst>
          </p:cNvPr>
          <p:cNvSpPr>
            <a:spLocks noGrp="1"/>
          </p:cNvSpPr>
          <p:nvPr>
            <p:ph type="sldNum" sz="quarter" idx="12"/>
          </p:nvPr>
        </p:nvSpPr>
        <p:spPr/>
        <p:txBody>
          <a:bodyPr/>
          <a:lstStyle/>
          <a:p>
            <a:fld id="{2CD9CCBA-94F9-47A8-BB24-52C7CEBE6AE3}" type="slidenum">
              <a:rPr lang="zh-CN" altLang="en-US" smtClean="0"/>
              <a:t>‹#›</a:t>
            </a:fld>
            <a:endParaRPr lang="zh-CN" altLang="en-US"/>
          </a:p>
        </p:txBody>
      </p:sp>
    </p:spTree>
    <p:extLst>
      <p:ext uri="{BB962C8B-B14F-4D97-AF65-F5344CB8AC3E}">
        <p14:creationId xmlns:p14="http://schemas.microsoft.com/office/powerpoint/2010/main" val="2558919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989DB10-848C-9377-5D98-D0D7EF0A8C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7696C5F-FE3D-7C7B-77D0-A2C432E21C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18D70A8-7B4F-1194-601E-7E29E3E4BB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FFB9DD-143F-4010-82C4-E22CA2301370}" type="datetimeFigureOut">
              <a:rPr lang="zh-CN" altLang="en-US" smtClean="0"/>
              <a:t>2026/6/12</a:t>
            </a:fld>
            <a:endParaRPr lang="zh-CN" altLang="en-US"/>
          </a:p>
        </p:txBody>
      </p:sp>
      <p:sp>
        <p:nvSpPr>
          <p:cNvPr id="5" name="页脚占位符 4">
            <a:extLst>
              <a:ext uri="{FF2B5EF4-FFF2-40B4-BE49-F238E27FC236}">
                <a16:creationId xmlns:a16="http://schemas.microsoft.com/office/drawing/2014/main" id="{A7FEBBC7-ACD6-9456-EDE2-09775213B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11D1FAB-40BE-7C84-291C-0AAABA887A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D9CCBA-94F9-47A8-BB24-52C7CEBE6AE3}" type="slidenum">
              <a:rPr lang="zh-CN" altLang="en-US" smtClean="0"/>
              <a:t>‹#›</a:t>
            </a:fld>
            <a:endParaRPr lang="zh-CN" altLang="en-US"/>
          </a:p>
        </p:txBody>
      </p:sp>
    </p:spTree>
    <p:extLst>
      <p:ext uri="{BB962C8B-B14F-4D97-AF65-F5344CB8AC3E}">
        <p14:creationId xmlns:p14="http://schemas.microsoft.com/office/powerpoint/2010/main" val="3232867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56C3BA-F3B3-D1FD-AF59-3EDF44341A08}"/>
              </a:ext>
            </a:extLst>
          </p:cNvPr>
          <p:cNvSpPr>
            <a:spLocks noGrp="1"/>
          </p:cNvSpPr>
          <p:nvPr>
            <p:ph type="ctrTitle"/>
          </p:nvPr>
        </p:nvSpPr>
        <p:spPr>
          <a:xfrm>
            <a:off x="1524000" y="1122363"/>
            <a:ext cx="9144000" cy="727952"/>
          </a:xfrm>
        </p:spPr>
        <p:txBody>
          <a:bodyPr>
            <a:normAutofit fontScale="90000"/>
          </a:bodyPr>
          <a:lstStyle/>
          <a:p>
            <a:r>
              <a:rPr lang="zh-CN" altLang="en-US" dirty="0"/>
              <a:t>发票培训</a:t>
            </a:r>
          </a:p>
        </p:txBody>
      </p:sp>
      <p:sp>
        <p:nvSpPr>
          <p:cNvPr id="3" name="副标题 2">
            <a:extLst>
              <a:ext uri="{FF2B5EF4-FFF2-40B4-BE49-F238E27FC236}">
                <a16:creationId xmlns:a16="http://schemas.microsoft.com/office/drawing/2014/main" id="{61A4812F-05DB-1973-63CF-7AAC3764AEB6}"/>
              </a:ext>
            </a:extLst>
          </p:cNvPr>
          <p:cNvSpPr>
            <a:spLocks noGrp="1"/>
          </p:cNvSpPr>
          <p:nvPr>
            <p:ph type="subTitle" idx="1"/>
          </p:nvPr>
        </p:nvSpPr>
        <p:spPr>
          <a:xfrm>
            <a:off x="1524000" y="1850315"/>
            <a:ext cx="9144000" cy="3407485"/>
          </a:xfrm>
        </p:spPr>
        <p:txBody>
          <a:bodyPr/>
          <a:lstStyle/>
          <a:p>
            <a:pPr algn="l"/>
            <a:r>
              <a:rPr lang="en-US" altLang="zh-CN" dirty="0"/>
              <a:t>1.</a:t>
            </a:r>
            <a:r>
              <a:rPr lang="zh-CN" altLang="en-US" dirty="0"/>
              <a:t>春秋能开具的发票内容</a:t>
            </a:r>
            <a:endParaRPr lang="en-US" altLang="zh-CN" dirty="0"/>
          </a:p>
          <a:p>
            <a:pPr algn="l"/>
            <a:r>
              <a:rPr lang="en-US" altLang="zh-CN" dirty="0"/>
              <a:t>2.</a:t>
            </a:r>
            <a:r>
              <a:rPr lang="zh-CN" altLang="en-US" dirty="0"/>
              <a:t>借开发票的流程</a:t>
            </a:r>
            <a:endParaRPr lang="en-US" altLang="zh-CN" dirty="0"/>
          </a:p>
          <a:p>
            <a:pPr algn="l"/>
            <a:r>
              <a:rPr lang="en-US" altLang="zh-CN" dirty="0"/>
              <a:t>3.</a:t>
            </a:r>
            <a:r>
              <a:rPr lang="zh-CN" altLang="en-US" dirty="0"/>
              <a:t>开具超十万发票的流程</a:t>
            </a:r>
            <a:endParaRPr lang="en-US" altLang="zh-CN" dirty="0"/>
          </a:p>
          <a:p>
            <a:pPr algn="l"/>
            <a:r>
              <a:rPr lang="en-US" altLang="zh-CN" dirty="0"/>
              <a:t>4.</a:t>
            </a:r>
            <a:r>
              <a:rPr lang="zh-CN" altLang="en-US" dirty="0"/>
              <a:t>红冲发票流程</a:t>
            </a:r>
          </a:p>
        </p:txBody>
      </p:sp>
    </p:spTree>
    <p:extLst>
      <p:ext uri="{BB962C8B-B14F-4D97-AF65-F5344CB8AC3E}">
        <p14:creationId xmlns:p14="http://schemas.microsoft.com/office/powerpoint/2010/main" val="646595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BF652D-1769-EED2-92CA-A39BC206959A}"/>
              </a:ext>
            </a:extLst>
          </p:cNvPr>
          <p:cNvSpPr>
            <a:spLocks noGrp="1"/>
          </p:cNvSpPr>
          <p:nvPr>
            <p:ph type="title"/>
          </p:nvPr>
        </p:nvSpPr>
        <p:spPr>
          <a:xfrm>
            <a:off x="838200" y="365126"/>
            <a:ext cx="10515600" cy="345088"/>
          </a:xfrm>
        </p:spPr>
        <p:txBody>
          <a:bodyPr>
            <a:normAutofit fontScale="90000"/>
          </a:bodyPr>
          <a:lstStyle/>
          <a:p>
            <a:r>
              <a:rPr lang="en-US" altLang="zh-CN" sz="2800" dirty="0"/>
              <a:t>1.</a:t>
            </a:r>
            <a:r>
              <a:rPr lang="zh-CN" altLang="en-US" sz="2800" dirty="0"/>
              <a:t>春秋能开具发票的内容</a:t>
            </a:r>
            <a:br>
              <a:rPr lang="en-US" altLang="zh-CN" sz="2800" dirty="0"/>
            </a:br>
            <a:r>
              <a:rPr lang="zh-CN" altLang="en-US" sz="1800" dirty="0"/>
              <a:t>常规发票内容</a:t>
            </a:r>
            <a:r>
              <a:rPr lang="zh-CN" altLang="en-US" sz="2800" dirty="0"/>
              <a:t>：</a:t>
            </a:r>
          </a:p>
        </p:txBody>
      </p:sp>
      <p:sp>
        <p:nvSpPr>
          <p:cNvPr id="11" name="文本框 10">
            <a:extLst>
              <a:ext uri="{FF2B5EF4-FFF2-40B4-BE49-F238E27FC236}">
                <a16:creationId xmlns:a16="http://schemas.microsoft.com/office/drawing/2014/main" id="{558208AA-92D6-7EF0-FB41-9131D95829F7}"/>
              </a:ext>
            </a:extLst>
          </p:cNvPr>
          <p:cNvSpPr txBox="1"/>
          <p:nvPr/>
        </p:nvSpPr>
        <p:spPr>
          <a:xfrm>
            <a:off x="678402" y="4878903"/>
            <a:ext cx="6094520" cy="1477328"/>
          </a:xfrm>
          <a:prstGeom prst="rect">
            <a:avLst/>
          </a:prstGeom>
          <a:noFill/>
        </p:spPr>
        <p:txBody>
          <a:bodyPr wrap="square">
            <a:spAutoFit/>
          </a:bodyPr>
          <a:lstStyle/>
          <a:p>
            <a:r>
              <a:rPr lang="zh-CN" altLang="en-US" dirty="0"/>
              <a:t>有特殊需要：</a:t>
            </a:r>
            <a:endParaRPr lang="en-US" altLang="zh-CN" dirty="0"/>
          </a:p>
          <a:p>
            <a:endParaRPr lang="en-US" altLang="zh-CN" dirty="0"/>
          </a:p>
          <a:p>
            <a:endParaRPr lang="en-US" altLang="zh-CN" dirty="0"/>
          </a:p>
          <a:p>
            <a:endParaRPr lang="en-US" altLang="zh-CN" dirty="0"/>
          </a:p>
          <a:p>
            <a:r>
              <a:rPr lang="zh-CN" altLang="en-US" dirty="0"/>
              <a:t>提示：常规的旅游产品，不能开专票</a:t>
            </a:r>
          </a:p>
        </p:txBody>
      </p:sp>
      <p:graphicFrame>
        <p:nvGraphicFramePr>
          <p:cNvPr id="14" name="内容占位符 13">
            <a:extLst>
              <a:ext uri="{FF2B5EF4-FFF2-40B4-BE49-F238E27FC236}">
                <a16:creationId xmlns:a16="http://schemas.microsoft.com/office/drawing/2014/main" id="{05998483-5ECF-9BAA-07B5-7C7C5DCC518D}"/>
              </a:ext>
            </a:extLst>
          </p:cNvPr>
          <p:cNvGraphicFramePr>
            <a:graphicFrameLocks noGrp="1"/>
          </p:cNvGraphicFramePr>
          <p:nvPr>
            <p:ph idx="1"/>
            <p:extLst>
              <p:ext uri="{D42A27DB-BD31-4B8C-83A1-F6EECF244321}">
                <p14:modId xmlns:p14="http://schemas.microsoft.com/office/powerpoint/2010/main" val="1507753998"/>
              </p:ext>
            </p:extLst>
          </p:nvPr>
        </p:nvGraphicFramePr>
        <p:xfrm>
          <a:off x="763480" y="843380"/>
          <a:ext cx="8912333" cy="3605586"/>
        </p:xfrm>
        <a:graphic>
          <a:graphicData uri="http://schemas.openxmlformats.org/drawingml/2006/table">
            <a:tbl>
              <a:tblPr>
                <a:tableStyleId>{5C22544A-7EE6-4342-B048-85BDC9FD1C3A}</a:tableStyleId>
              </a:tblPr>
              <a:tblGrid>
                <a:gridCol w="2112054">
                  <a:extLst>
                    <a:ext uri="{9D8B030D-6E8A-4147-A177-3AD203B41FA5}">
                      <a16:colId xmlns:a16="http://schemas.microsoft.com/office/drawing/2014/main" val="1816005920"/>
                    </a:ext>
                  </a:extLst>
                </a:gridCol>
                <a:gridCol w="1345258">
                  <a:extLst>
                    <a:ext uri="{9D8B030D-6E8A-4147-A177-3AD203B41FA5}">
                      <a16:colId xmlns:a16="http://schemas.microsoft.com/office/drawing/2014/main" val="1151498840"/>
                    </a:ext>
                  </a:extLst>
                </a:gridCol>
                <a:gridCol w="887870">
                  <a:extLst>
                    <a:ext uri="{9D8B030D-6E8A-4147-A177-3AD203B41FA5}">
                      <a16:colId xmlns:a16="http://schemas.microsoft.com/office/drawing/2014/main" val="2472219080"/>
                    </a:ext>
                  </a:extLst>
                </a:gridCol>
                <a:gridCol w="1520141">
                  <a:extLst>
                    <a:ext uri="{9D8B030D-6E8A-4147-A177-3AD203B41FA5}">
                      <a16:colId xmlns:a16="http://schemas.microsoft.com/office/drawing/2014/main" val="243377816"/>
                    </a:ext>
                  </a:extLst>
                </a:gridCol>
                <a:gridCol w="1523505">
                  <a:extLst>
                    <a:ext uri="{9D8B030D-6E8A-4147-A177-3AD203B41FA5}">
                      <a16:colId xmlns:a16="http://schemas.microsoft.com/office/drawing/2014/main" val="4215793803"/>
                    </a:ext>
                  </a:extLst>
                </a:gridCol>
                <a:gridCol w="1523505">
                  <a:extLst>
                    <a:ext uri="{9D8B030D-6E8A-4147-A177-3AD203B41FA5}">
                      <a16:colId xmlns:a16="http://schemas.microsoft.com/office/drawing/2014/main" val="209329713"/>
                    </a:ext>
                  </a:extLst>
                </a:gridCol>
              </a:tblGrid>
              <a:tr h="319314">
                <a:tc gridSpan="6">
                  <a:txBody>
                    <a:bodyPr/>
                    <a:lstStyle/>
                    <a:p>
                      <a:pPr algn="ctr" fontAlgn="ctr">
                        <a:buNone/>
                      </a:pPr>
                      <a:r>
                        <a:rPr lang="zh-CN" altLang="en-US" sz="1400" u="none" strike="noStrike">
                          <a:effectLst/>
                        </a:rPr>
                        <a:t>开票内容、开票税率、开票方式及适用范围明细表</a:t>
                      </a:r>
                      <a:endParaRPr lang="zh-CN" altLang="en-US" sz="1400" b="1"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98334691"/>
                  </a:ext>
                </a:extLst>
              </a:tr>
              <a:tr h="252790">
                <a:tc>
                  <a:txBody>
                    <a:bodyPr/>
                    <a:lstStyle/>
                    <a:p>
                      <a:pPr algn="l" fontAlgn="ctr">
                        <a:buNone/>
                      </a:pPr>
                      <a:r>
                        <a:rPr lang="zh-CN" altLang="en-US" sz="1100" u="none" strike="noStrike">
                          <a:effectLst/>
                        </a:rPr>
                        <a:t>税收分类简称</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适用范围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税率</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发票内容</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开票功能权限</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备注</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1230630420"/>
                  </a:ext>
                </a:extLst>
              </a:tr>
              <a:tr h="252790">
                <a:tc rowSpan="9">
                  <a:txBody>
                    <a:bodyPr/>
                    <a:lstStyle/>
                    <a:p>
                      <a:pPr algn="ctr" fontAlgn="ctr">
                        <a:buNone/>
                      </a:pPr>
                      <a:r>
                        <a:rPr lang="zh-CN" altLang="en-US" sz="1100" u="none" strike="noStrike" dirty="0">
                          <a:effectLst/>
                        </a:rPr>
                        <a:t>生产生活服务</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rowSpan="6">
                  <a:txBody>
                    <a:bodyPr/>
                    <a:lstStyle/>
                    <a:p>
                      <a:pPr algn="l" fontAlgn="ctr">
                        <a:buNone/>
                      </a:pPr>
                      <a:r>
                        <a:rPr lang="zh-CN" altLang="en-US" sz="1100" u="none" strike="noStrike">
                          <a:effectLst/>
                        </a:rPr>
                        <a:t>国内旅游产品以及出境业务中的“单项产品”和“签证”</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rowSpan="6">
                  <a:txBody>
                    <a:bodyPr/>
                    <a:lstStyle/>
                    <a:p>
                      <a:pPr algn="l" fontAlgn="ctr">
                        <a:buNone/>
                      </a:pPr>
                      <a:r>
                        <a:rPr lang="en-US" altLang="zh-CN" sz="1100" u="none" strike="noStrike">
                          <a:effectLst/>
                        </a:rPr>
                        <a:t>6%</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旅游费</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业务</a:t>
                      </a:r>
                      <a:r>
                        <a:rPr lang="en-US" altLang="zh-CN" sz="1100" u="none" strike="noStrike">
                          <a:effectLst/>
                        </a:rPr>
                        <a:t>&amp;</a:t>
                      </a:r>
                      <a:r>
                        <a:rPr lang="zh-CN" altLang="en-US" sz="1100" u="none" strike="noStrike">
                          <a:effectLst/>
                        </a:rPr>
                        <a:t>财务权隈</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　</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231401939"/>
                  </a:ext>
                </a:extLst>
              </a:tr>
              <a:tr h="25279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buNone/>
                      </a:pPr>
                      <a:r>
                        <a:rPr lang="zh-CN" altLang="en-US" sz="1100" u="none" strike="noStrike">
                          <a:effectLst/>
                        </a:rPr>
                        <a:t>机票*酒店</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业务</a:t>
                      </a:r>
                      <a:r>
                        <a:rPr lang="en-US" altLang="zh-CN" sz="1100" u="none" strike="noStrike">
                          <a:effectLst/>
                        </a:rPr>
                        <a:t>&amp;</a:t>
                      </a:r>
                      <a:r>
                        <a:rPr lang="zh-CN" altLang="en-US" sz="1100" u="none" strike="noStrike">
                          <a:effectLst/>
                        </a:rPr>
                        <a:t>财务权限</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　</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492817349"/>
                  </a:ext>
                </a:extLst>
              </a:tr>
              <a:tr h="758371">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buNone/>
                      </a:pPr>
                      <a:r>
                        <a:rPr lang="zh-CN" altLang="en-US" sz="1100" u="none" strike="noStrike">
                          <a:effectLst/>
                        </a:rPr>
                        <a:t>单项服务费</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业务</a:t>
                      </a:r>
                      <a:r>
                        <a:rPr lang="en-US" altLang="zh-CN" sz="1100" u="none" strike="noStrike">
                          <a:effectLst/>
                        </a:rPr>
                        <a:t>&amp;</a:t>
                      </a:r>
                      <a:r>
                        <a:rPr lang="zh-CN" altLang="en-US" sz="1100" u="none" strike="noStrike">
                          <a:effectLst/>
                        </a:rPr>
                        <a:t>财务权限</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可根据实际业务内容，在发票“备注”栏中备注，如“单订门票</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4284623011"/>
                  </a:ext>
                </a:extLst>
              </a:tr>
              <a:tr h="25279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buNone/>
                      </a:pPr>
                      <a:r>
                        <a:rPr lang="zh-CN" altLang="en-US" sz="1100" u="none" strike="noStrike">
                          <a:effectLst/>
                        </a:rPr>
                        <a:t>团款</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财务权隈</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　</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4022027026"/>
                  </a:ext>
                </a:extLst>
              </a:tr>
              <a:tr h="25279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buNone/>
                      </a:pPr>
                      <a:r>
                        <a:rPr lang="zh-CN" altLang="en-US" sz="1100" u="none" strike="noStrike">
                          <a:effectLst/>
                        </a:rPr>
                        <a:t>综合服务费</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财务权隈</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　</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46245983"/>
                  </a:ext>
                </a:extLst>
              </a:tr>
              <a:tr h="505581">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buNone/>
                      </a:pPr>
                      <a:r>
                        <a:rPr lang="zh-CN" altLang="en-US" sz="1100" u="none" strike="noStrike">
                          <a:effectLst/>
                        </a:rPr>
                        <a:t>疗休养费</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财务杈隈</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仅限签订的疗体养项目合同</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759033717"/>
                  </a:ext>
                </a:extLst>
              </a:tr>
              <a:tr h="252790">
                <a:tc vMerge="1">
                  <a:txBody>
                    <a:bodyPr/>
                    <a:lstStyle/>
                    <a:p>
                      <a:endParaRPr lang="zh-CN" altLang="en-US"/>
                    </a:p>
                  </a:txBody>
                  <a:tcPr/>
                </a:tc>
                <a:tc rowSpan="3">
                  <a:txBody>
                    <a:bodyPr/>
                    <a:lstStyle/>
                    <a:p>
                      <a:pPr algn="ctr" fontAlgn="ctr">
                        <a:buNone/>
                      </a:pPr>
                      <a:r>
                        <a:rPr lang="zh-CN" altLang="en-US" sz="1100" u="none" strike="noStrike">
                          <a:effectLst/>
                        </a:rPr>
                        <a:t>出境旅游产品中的“跟团游”“邮轮”“白由行”</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rowSpan="3">
                  <a:txBody>
                    <a:bodyPr/>
                    <a:lstStyle/>
                    <a:p>
                      <a:pPr algn="l" fontAlgn="ctr">
                        <a:buNone/>
                      </a:pPr>
                      <a:r>
                        <a:rPr lang="zh-CN" altLang="en-US" sz="1100" u="none" strike="noStrike">
                          <a:effectLst/>
                        </a:rPr>
                        <a:t>免税</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旅游费</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业务</a:t>
                      </a:r>
                      <a:r>
                        <a:rPr lang="en-US" altLang="zh-CN" sz="1100" u="none" strike="noStrike">
                          <a:effectLst/>
                        </a:rPr>
                        <a:t>&amp;</a:t>
                      </a:r>
                      <a:r>
                        <a:rPr lang="zh-CN" altLang="en-US" sz="1100" u="none" strike="noStrike">
                          <a:effectLst/>
                        </a:rPr>
                        <a:t>财务权隈</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　</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259384838"/>
                  </a:ext>
                </a:extLst>
              </a:tr>
              <a:tr h="25279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buNone/>
                      </a:pPr>
                      <a:r>
                        <a:rPr lang="zh-CN" altLang="en-US" sz="1100" u="none" strike="noStrike">
                          <a:effectLst/>
                        </a:rPr>
                        <a:t>机票</a:t>
                      </a:r>
                      <a:r>
                        <a:rPr lang="en-US" altLang="zh-CN" sz="1100" u="none" strike="noStrike">
                          <a:effectLst/>
                        </a:rPr>
                        <a:t>+</a:t>
                      </a:r>
                      <a:r>
                        <a:rPr lang="zh-CN" altLang="en-US" sz="1100" u="none" strike="noStrike">
                          <a:effectLst/>
                        </a:rPr>
                        <a:t>酒店</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业务</a:t>
                      </a:r>
                      <a:r>
                        <a:rPr lang="en-US" altLang="zh-CN" sz="1100" u="none" strike="noStrike">
                          <a:effectLst/>
                        </a:rPr>
                        <a:t>&amp;</a:t>
                      </a:r>
                      <a:r>
                        <a:rPr lang="zh-CN" altLang="en-US" sz="1100" u="none" strike="noStrike">
                          <a:effectLst/>
                        </a:rPr>
                        <a:t>财务权限</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dirty="0">
                          <a:effectLst/>
                        </a:rPr>
                        <a:t>　</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214209754"/>
                  </a:ext>
                </a:extLst>
              </a:tr>
              <a:tr h="25279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buNone/>
                      </a:pPr>
                      <a:r>
                        <a:rPr lang="zh-CN" altLang="en-US" sz="1100" u="none" strike="noStrike">
                          <a:effectLst/>
                        </a:rPr>
                        <a:t>综合服务费</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a:effectLst/>
                        </a:rPr>
                        <a:t>财务权限</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100" u="none" strike="noStrike" dirty="0">
                          <a:effectLst/>
                        </a:rPr>
                        <a:t>　</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58166086"/>
                  </a:ext>
                </a:extLst>
              </a:tr>
            </a:tbl>
          </a:graphicData>
        </a:graphic>
      </p:graphicFrame>
      <p:graphicFrame>
        <p:nvGraphicFramePr>
          <p:cNvPr id="15" name="表格 14">
            <a:extLst>
              <a:ext uri="{FF2B5EF4-FFF2-40B4-BE49-F238E27FC236}">
                <a16:creationId xmlns:a16="http://schemas.microsoft.com/office/drawing/2014/main" id="{A7AE1429-46B9-9078-5026-16C7F4A501F3}"/>
              </a:ext>
            </a:extLst>
          </p:cNvPr>
          <p:cNvGraphicFramePr>
            <a:graphicFrameLocks noGrp="1"/>
          </p:cNvGraphicFramePr>
          <p:nvPr>
            <p:extLst>
              <p:ext uri="{D42A27DB-BD31-4B8C-83A1-F6EECF244321}">
                <p14:modId xmlns:p14="http://schemas.microsoft.com/office/powerpoint/2010/main" val="3696613514"/>
              </p:ext>
            </p:extLst>
          </p:nvPr>
        </p:nvGraphicFramePr>
        <p:xfrm>
          <a:off x="838200" y="5267999"/>
          <a:ext cx="3949700" cy="699135"/>
        </p:xfrm>
        <a:graphic>
          <a:graphicData uri="http://schemas.openxmlformats.org/drawingml/2006/table">
            <a:tbl>
              <a:tblPr>
                <a:tableStyleId>{5C22544A-7EE6-4342-B048-85BDC9FD1C3A}</a:tableStyleId>
              </a:tblPr>
              <a:tblGrid>
                <a:gridCol w="1993900">
                  <a:extLst>
                    <a:ext uri="{9D8B030D-6E8A-4147-A177-3AD203B41FA5}">
                      <a16:colId xmlns:a16="http://schemas.microsoft.com/office/drawing/2014/main" val="3540028015"/>
                    </a:ext>
                  </a:extLst>
                </a:gridCol>
                <a:gridCol w="1270000">
                  <a:extLst>
                    <a:ext uri="{9D8B030D-6E8A-4147-A177-3AD203B41FA5}">
                      <a16:colId xmlns:a16="http://schemas.microsoft.com/office/drawing/2014/main" val="3661404385"/>
                    </a:ext>
                  </a:extLst>
                </a:gridCol>
                <a:gridCol w="685800">
                  <a:extLst>
                    <a:ext uri="{9D8B030D-6E8A-4147-A177-3AD203B41FA5}">
                      <a16:colId xmlns:a16="http://schemas.microsoft.com/office/drawing/2014/main" val="1095615901"/>
                    </a:ext>
                  </a:extLst>
                </a:gridCol>
              </a:tblGrid>
              <a:tr h="0">
                <a:tc>
                  <a:txBody>
                    <a:bodyPr/>
                    <a:lstStyle/>
                    <a:p>
                      <a:pPr algn="ctr" fontAlgn="ctr">
                        <a:buNone/>
                      </a:pPr>
                      <a:r>
                        <a:rPr lang="zh-CN" altLang="en-US" sz="1100" u="none" strike="noStrike" dirty="0">
                          <a:effectLst/>
                        </a:rPr>
                        <a:t>运输服务</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ctr" fontAlgn="ctr">
                        <a:buNone/>
                      </a:pPr>
                      <a:r>
                        <a:rPr lang="zh-CN" altLang="en-US" sz="1100" u="none" strike="noStrike" dirty="0">
                          <a:effectLst/>
                        </a:rPr>
                        <a:t>订车（带司机）</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ctr" fontAlgn="ctr">
                        <a:buNone/>
                      </a:pPr>
                      <a:r>
                        <a:rPr lang="en-US" altLang="zh-CN" sz="1100" u="none" strike="noStrike">
                          <a:effectLst/>
                        </a:rPr>
                        <a:t>9%</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2852088226"/>
                  </a:ext>
                </a:extLst>
              </a:tr>
              <a:tr h="0">
                <a:tc>
                  <a:txBody>
                    <a:bodyPr/>
                    <a:lstStyle/>
                    <a:p>
                      <a:pPr algn="ctr" fontAlgn="ctr">
                        <a:buNone/>
                      </a:pPr>
                      <a:r>
                        <a:rPr lang="zh-CN" altLang="en-US" sz="1100" u="none" strike="noStrike" dirty="0">
                          <a:effectLst/>
                        </a:rPr>
                        <a:t>生产生活服务（原会展服务）</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ctr" fontAlgn="ctr">
                        <a:buNone/>
                      </a:pPr>
                      <a:r>
                        <a:rPr lang="zh-CN" altLang="en-US" sz="1100" u="none" strike="noStrike" dirty="0">
                          <a:effectLst/>
                        </a:rPr>
                        <a:t>签订会务合同</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ctr" fontAlgn="ctr">
                        <a:buNone/>
                      </a:pPr>
                      <a:r>
                        <a:rPr lang="en-US" altLang="zh-CN" sz="1100" u="none" strike="noStrike">
                          <a:effectLst/>
                        </a:rPr>
                        <a:t>6%</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305788678"/>
                  </a:ext>
                </a:extLst>
              </a:tr>
              <a:tr h="0">
                <a:tc>
                  <a:txBody>
                    <a:bodyPr/>
                    <a:lstStyle/>
                    <a:p>
                      <a:pPr algn="ctr" fontAlgn="ctr">
                        <a:buNone/>
                      </a:pPr>
                      <a:r>
                        <a:rPr lang="zh-CN" altLang="en-US" sz="1100" u="none" strike="noStrike" dirty="0">
                          <a:effectLst/>
                        </a:rPr>
                        <a:t>生产生活服务（原现代服务费）</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ctr" fontAlgn="ctr">
                        <a:buNone/>
                      </a:pPr>
                      <a:r>
                        <a:rPr lang="zh-CN" altLang="en-US" sz="1100" u="none" strike="noStrike" dirty="0">
                          <a:effectLst/>
                        </a:rPr>
                        <a:t>签订服务合同注明要开具服务费发票</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ctr" fontAlgn="ctr">
                        <a:buNone/>
                      </a:pPr>
                      <a:r>
                        <a:rPr lang="en-US" altLang="zh-CN" sz="1100" u="none" strike="noStrike" dirty="0">
                          <a:effectLst/>
                        </a:rPr>
                        <a:t>6%</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1804786645"/>
                  </a:ext>
                </a:extLst>
              </a:tr>
            </a:tbl>
          </a:graphicData>
        </a:graphic>
      </p:graphicFrame>
    </p:spTree>
    <p:extLst>
      <p:ext uri="{BB962C8B-B14F-4D97-AF65-F5344CB8AC3E}">
        <p14:creationId xmlns:p14="http://schemas.microsoft.com/office/powerpoint/2010/main" val="3805539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C00D80-83CD-8564-1D6A-8E48EE390E01}"/>
              </a:ext>
            </a:extLst>
          </p:cNvPr>
          <p:cNvSpPr>
            <a:spLocks noGrp="1"/>
          </p:cNvSpPr>
          <p:nvPr>
            <p:ph type="title"/>
          </p:nvPr>
        </p:nvSpPr>
        <p:spPr>
          <a:xfrm>
            <a:off x="838200" y="365125"/>
            <a:ext cx="10515600" cy="602541"/>
          </a:xfrm>
        </p:spPr>
        <p:txBody>
          <a:bodyPr>
            <a:normAutofit fontScale="90000"/>
          </a:bodyPr>
          <a:lstStyle/>
          <a:p>
            <a:r>
              <a:rPr lang="zh-CN" altLang="en-US" sz="2000" dirty="0"/>
              <a:t>关于开具会务和现代服务的发票要签订相应合同并且加收</a:t>
            </a:r>
            <a:r>
              <a:rPr lang="en-US" altLang="zh-CN" sz="2000" dirty="0"/>
              <a:t>6%</a:t>
            </a:r>
            <a:r>
              <a:rPr lang="zh-CN" altLang="en-US" sz="2000" dirty="0"/>
              <a:t>的税点的操作，注意</a:t>
            </a:r>
            <a:r>
              <a:rPr lang="en-US" altLang="zh-CN" sz="2000" dirty="0"/>
              <a:t>2026</a:t>
            </a:r>
            <a:r>
              <a:rPr lang="zh-CN" altLang="en-US" sz="2000" dirty="0"/>
              <a:t>年</a:t>
            </a:r>
            <a:r>
              <a:rPr lang="en-US" altLang="zh-CN" sz="2000" dirty="0"/>
              <a:t>6</a:t>
            </a:r>
            <a:r>
              <a:rPr lang="zh-CN" altLang="en-US" sz="2000" dirty="0"/>
              <a:t>月</a:t>
            </a:r>
            <a:r>
              <a:rPr lang="en-US" altLang="zh-CN" sz="2000" dirty="0"/>
              <a:t>1</a:t>
            </a:r>
            <a:r>
              <a:rPr lang="zh-CN" altLang="en-US" sz="2000" dirty="0"/>
              <a:t>日后前缀均为“生产生活服务”，现用需开会务费的情况举例：</a:t>
            </a:r>
            <a:br>
              <a:rPr lang="en-US" altLang="zh-CN" sz="2000" dirty="0"/>
            </a:br>
            <a:r>
              <a:rPr lang="zh-CN" altLang="en-US" sz="2000" dirty="0"/>
              <a:t>首先：签订会务合同，合同中的金额是加收</a:t>
            </a:r>
            <a:r>
              <a:rPr lang="en-US" altLang="zh-CN" sz="2000" dirty="0"/>
              <a:t>6%</a:t>
            </a:r>
            <a:r>
              <a:rPr lang="zh-CN" altLang="en-US" sz="2000" dirty="0"/>
              <a:t>税费后的金额</a:t>
            </a:r>
            <a:endParaRPr lang="zh-CN" altLang="en-US" dirty="0"/>
          </a:p>
        </p:txBody>
      </p:sp>
      <p:pic>
        <p:nvPicPr>
          <p:cNvPr id="5" name="内容占位符 4">
            <a:extLst>
              <a:ext uri="{FF2B5EF4-FFF2-40B4-BE49-F238E27FC236}">
                <a16:creationId xmlns:a16="http://schemas.microsoft.com/office/drawing/2014/main" id="{4DF8F01A-FFE4-C17D-F7C2-E50545B09743}"/>
              </a:ext>
            </a:extLst>
          </p:cNvPr>
          <p:cNvPicPr>
            <a:picLocks noGrp="1" noChangeAspect="1"/>
          </p:cNvPicPr>
          <p:nvPr>
            <p:ph idx="1"/>
          </p:nvPr>
        </p:nvPicPr>
        <p:blipFill>
          <a:blip r:embed="rId2"/>
          <a:stretch>
            <a:fillRect/>
          </a:stretch>
        </p:blipFill>
        <p:spPr>
          <a:xfrm>
            <a:off x="1269507" y="1318087"/>
            <a:ext cx="3639799" cy="4885507"/>
          </a:xfrm>
          <a:prstGeom prst="rect">
            <a:avLst/>
          </a:prstGeom>
        </p:spPr>
      </p:pic>
      <p:pic>
        <p:nvPicPr>
          <p:cNvPr id="7" name="图片 6">
            <a:extLst>
              <a:ext uri="{FF2B5EF4-FFF2-40B4-BE49-F238E27FC236}">
                <a16:creationId xmlns:a16="http://schemas.microsoft.com/office/drawing/2014/main" id="{72EE3027-75A5-98EC-C0D1-DF18C0B85462}"/>
              </a:ext>
            </a:extLst>
          </p:cNvPr>
          <p:cNvPicPr>
            <a:picLocks noChangeAspect="1"/>
          </p:cNvPicPr>
          <p:nvPr/>
        </p:nvPicPr>
        <p:blipFill>
          <a:blip r:embed="rId3"/>
          <a:stretch>
            <a:fillRect/>
          </a:stretch>
        </p:blipFill>
        <p:spPr>
          <a:xfrm>
            <a:off x="6795394" y="1841421"/>
            <a:ext cx="3227495" cy="3175157"/>
          </a:xfrm>
          <a:prstGeom prst="rect">
            <a:avLst/>
          </a:prstGeom>
        </p:spPr>
      </p:pic>
    </p:spTree>
    <p:extLst>
      <p:ext uri="{BB962C8B-B14F-4D97-AF65-F5344CB8AC3E}">
        <p14:creationId xmlns:p14="http://schemas.microsoft.com/office/powerpoint/2010/main" val="3713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317E6C-E9BB-BD21-D73C-EA9A4D857532}"/>
              </a:ext>
            </a:extLst>
          </p:cNvPr>
          <p:cNvSpPr>
            <a:spLocks noGrp="1"/>
          </p:cNvSpPr>
          <p:nvPr>
            <p:ph type="title"/>
          </p:nvPr>
        </p:nvSpPr>
        <p:spPr>
          <a:xfrm>
            <a:off x="838200" y="365125"/>
            <a:ext cx="10515600" cy="389477"/>
          </a:xfrm>
        </p:spPr>
        <p:txBody>
          <a:bodyPr>
            <a:normAutofit/>
          </a:bodyPr>
          <a:lstStyle/>
          <a:p>
            <a:r>
              <a:rPr lang="zh-CN" altLang="en-US" sz="1800" dirty="0"/>
              <a:t>订单以及付款记录的操作：</a:t>
            </a:r>
          </a:p>
        </p:txBody>
      </p:sp>
      <p:pic>
        <p:nvPicPr>
          <p:cNvPr id="5" name="内容占位符 4">
            <a:extLst>
              <a:ext uri="{FF2B5EF4-FFF2-40B4-BE49-F238E27FC236}">
                <a16:creationId xmlns:a16="http://schemas.microsoft.com/office/drawing/2014/main" id="{43B78D04-E3BB-2072-A422-4D1EAC8F1CB9}"/>
              </a:ext>
            </a:extLst>
          </p:cNvPr>
          <p:cNvPicPr>
            <a:picLocks noGrp="1" noChangeAspect="1"/>
          </p:cNvPicPr>
          <p:nvPr>
            <p:ph idx="1"/>
          </p:nvPr>
        </p:nvPicPr>
        <p:blipFill>
          <a:blip r:embed="rId2"/>
          <a:stretch>
            <a:fillRect/>
          </a:stretch>
        </p:blipFill>
        <p:spPr>
          <a:xfrm>
            <a:off x="625136" y="1010391"/>
            <a:ext cx="10515600" cy="1555256"/>
          </a:xfrm>
          <a:prstGeom prst="rect">
            <a:avLst/>
          </a:prstGeom>
        </p:spPr>
      </p:pic>
      <p:pic>
        <p:nvPicPr>
          <p:cNvPr id="7" name="图片 6">
            <a:extLst>
              <a:ext uri="{FF2B5EF4-FFF2-40B4-BE49-F238E27FC236}">
                <a16:creationId xmlns:a16="http://schemas.microsoft.com/office/drawing/2014/main" id="{B477EEF4-47ED-54F2-0C07-19CFE23A2B0D}"/>
              </a:ext>
            </a:extLst>
          </p:cNvPr>
          <p:cNvPicPr>
            <a:picLocks noChangeAspect="1"/>
          </p:cNvPicPr>
          <p:nvPr/>
        </p:nvPicPr>
        <p:blipFill>
          <a:blip r:embed="rId3"/>
          <a:stretch>
            <a:fillRect/>
          </a:stretch>
        </p:blipFill>
        <p:spPr>
          <a:xfrm>
            <a:off x="625136" y="3429000"/>
            <a:ext cx="10858500" cy="2229193"/>
          </a:xfrm>
          <a:prstGeom prst="rect">
            <a:avLst/>
          </a:prstGeom>
        </p:spPr>
      </p:pic>
    </p:spTree>
    <p:extLst>
      <p:ext uri="{BB962C8B-B14F-4D97-AF65-F5344CB8AC3E}">
        <p14:creationId xmlns:p14="http://schemas.microsoft.com/office/powerpoint/2010/main" val="774476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17F933-3384-5475-31FF-11DDD39B8DB7}"/>
              </a:ext>
            </a:extLst>
          </p:cNvPr>
          <p:cNvSpPr>
            <a:spLocks noGrp="1"/>
          </p:cNvSpPr>
          <p:nvPr>
            <p:ph type="title"/>
          </p:nvPr>
        </p:nvSpPr>
        <p:spPr>
          <a:xfrm>
            <a:off x="838200" y="365125"/>
            <a:ext cx="10515600" cy="678367"/>
          </a:xfrm>
        </p:spPr>
        <p:txBody>
          <a:bodyPr>
            <a:normAutofit fontScale="90000"/>
          </a:bodyPr>
          <a:lstStyle/>
          <a:p>
            <a:r>
              <a:rPr lang="en-US" altLang="zh-CN" dirty="0"/>
              <a:t>2.</a:t>
            </a:r>
            <a:r>
              <a:rPr lang="zh-CN" altLang="en-US" dirty="0"/>
              <a:t>借开发票的流程</a:t>
            </a:r>
          </a:p>
        </p:txBody>
      </p:sp>
      <p:sp>
        <p:nvSpPr>
          <p:cNvPr id="3" name="内容占位符 2">
            <a:extLst>
              <a:ext uri="{FF2B5EF4-FFF2-40B4-BE49-F238E27FC236}">
                <a16:creationId xmlns:a16="http://schemas.microsoft.com/office/drawing/2014/main" id="{71A16D50-31FF-D57B-D2C6-C435614ED6B7}"/>
              </a:ext>
            </a:extLst>
          </p:cNvPr>
          <p:cNvSpPr>
            <a:spLocks noGrp="1"/>
          </p:cNvSpPr>
          <p:nvPr>
            <p:ph idx="1"/>
          </p:nvPr>
        </p:nvSpPr>
        <p:spPr>
          <a:xfrm>
            <a:off x="397137" y="1043492"/>
            <a:ext cx="10515600" cy="498027"/>
          </a:xfrm>
        </p:spPr>
        <p:txBody>
          <a:bodyPr/>
          <a:lstStyle/>
          <a:p>
            <a:r>
              <a:rPr lang="zh-CN" altLang="en-US" sz="2000" dirty="0"/>
              <a:t>填借开发票申请单（申请人上请水笔签字）：</a:t>
            </a:r>
            <a:endParaRPr lang="en-US" altLang="zh-CN" sz="2000" dirty="0"/>
          </a:p>
          <a:p>
            <a:endParaRPr lang="zh-CN" altLang="en-US" dirty="0"/>
          </a:p>
        </p:txBody>
      </p:sp>
      <p:pic>
        <p:nvPicPr>
          <p:cNvPr id="5" name="图片 4">
            <a:extLst>
              <a:ext uri="{FF2B5EF4-FFF2-40B4-BE49-F238E27FC236}">
                <a16:creationId xmlns:a16="http://schemas.microsoft.com/office/drawing/2014/main" id="{03826E64-4BCA-A4A8-AD4F-D4D814D67742}"/>
              </a:ext>
            </a:extLst>
          </p:cNvPr>
          <p:cNvPicPr>
            <a:picLocks noChangeAspect="1"/>
          </p:cNvPicPr>
          <p:nvPr/>
        </p:nvPicPr>
        <p:blipFill>
          <a:blip r:embed="rId2"/>
          <a:stretch>
            <a:fillRect/>
          </a:stretch>
        </p:blipFill>
        <p:spPr>
          <a:xfrm>
            <a:off x="1113840" y="1701800"/>
            <a:ext cx="8096250" cy="4791075"/>
          </a:xfrm>
          <a:prstGeom prst="rect">
            <a:avLst/>
          </a:prstGeom>
        </p:spPr>
      </p:pic>
    </p:spTree>
    <p:extLst>
      <p:ext uri="{BB962C8B-B14F-4D97-AF65-F5344CB8AC3E}">
        <p14:creationId xmlns:p14="http://schemas.microsoft.com/office/powerpoint/2010/main" val="3003245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5F42E8-44A9-670F-BB50-173758145BED}"/>
              </a:ext>
            </a:extLst>
          </p:cNvPr>
          <p:cNvSpPr>
            <a:spLocks noGrp="1"/>
          </p:cNvSpPr>
          <p:nvPr>
            <p:ph type="title"/>
          </p:nvPr>
        </p:nvSpPr>
        <p:spPr>
          <a:xfrm>
            <a:off x="506027" y="213065"/>
            <a:ext cx="10847773" cy="1477624"/>
          </a:xfrm>
        </p:spPr>
        <p:txBody>
          <a:bodyPr>
            <a:normAutofit/>
          </a:bodyPr>
          <a:lstStyle/>
          <a:p>
            <a:r>
              <a:rPr lang="zh-CN" altLang="en-US" sz="1600" dirty="0"/>
              <a:t>      王鑫总同意借开发票后填写市场部借开发票的共享文档（每个月都会更新一版），财务处会按填写的先后顺序开具发票，如客人要求单价人数需要开特殊发票的，请在订单付款备注中注明（特殊发票不与订单关联，需在订单记录中手输发票号码），如果借开发票后金额发生变化需要红冲的，在取得红冲流程后（客人盖公章的未入账证明或者领导同意红冲的</a:t>
            </a:r>
            <a:r>
              <a:rPr lang="en-US" altLang="zh-CN" sz="1600" dirty="0"/>
              <a:t>OA</a:t>
            </a:r>
            <a:r>
              <a:rPr lang="zh-CN" altLang="en-US" sz="1600" dirty="0"/>
              <a:t>流程）在借开发票的表格中输入负数，借开的流程和红冲流程及时交财务。</a:t>
            </a:r>
          </a:p>
        </p:txBody>
      </p:sp>
      <p:pic>
        <p:nvPicPr>
          <p:cNvPr id="5" name="内容占位符 4">
            <a:extLst>
              <a:ext uri="{FF2B5EF4-FFF2-40B4-BE49-F238E27FC236}">
                <a16:creationId xmlns:a16="http://schemas.microsoft.com/office/drawing/2014/main" id="{0CC6E6AD-02A2-94C5-5994-BDA2CED11DE0}"/>
              </a:ext>
            </a:extLst>
          </p:cNvPr>
          <p:cNvPicPr>
            <a:picLocks noGrp="1" noChangeAspect="1"/>
          </p:cNvPicPr>
          <p:nvPr>
            <p:ph idx="1"/>
          </p:nvPr>
        </p:nvPicPr>
        <p:blipFill>
          <a:blip r:embed="rId2"/>
          <a:stretch>
            <a:fillRect/>
          </a:stretch>
        </p:blipFill>
        <p:spPr>
          <a:xfrm>
            <a:off x="1478534" y="1825625"/>
            <a:ext cx="9234932" cy="4351338"/>
          </a:xfrm>
          <a:prstGeom prst="rect">
            <a:avLst/>
          </a:prstGeom>
        </p:spPr>
      </p:pic>
    </p:spTree>
    <p:extLst>
      <p:ext uri="{BB962C8B-B14F-4D97-AF65-F5344CB8AC3E}">
        <p14:creationId xmlns:p14="http://schemas.microsoft.com/office/powerpoint/2010/main" val="3793006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1BC9A8-DAF5-70BB-D7F7-DFBE6CF965C7}"/>
              </a:ext>
            </a:extLst>
          </p:cNvPr>
          <p:cNvSpPr>
            <a:spLocks noGrp="1"/>
          </p:cNvSpPr>
          <p:nvPr>
            <p:ph type="title"/>
          </p:nvPr>
        </p:nvSpPr>
        <p:spPr>
          <a:xfrm>
            <a:off x="838200" y="365125"/>
            <a:ext cx="10515600" cy="496009"/>
          </a:xfrm>
        </p:spPr>
        <p:txBody>
          <a:bodyPr>
            <a:normAutofit fontScale="90000"/>
          </a:bodyPr>
          <a:lstStyle/>
          <a:p>
            <a:r>
              <a:rPr lang="en-US" altLang="zh-CN" sz="2400" dirty="0"/>
              <a:t>3.</a:t>
            </a:r>
            <a:r>
              <a:rPr lang="zh-CN" altLang="en-US" sz="2400" dirty="0"/>
              <a:t>开具超十万发票流程</a:t>
            </a:r>
            <a:br>
              <a:rPr lang="en-US" altLang="zh-CN" dirty="0"/>
            </a:br>
            <a:endParaRPr lang="zh-CN" altLang="en-US" dirty="0"/>
          </a:p>
        </p:txBody>
      </p:sp>
      <p:sp>
        <p:nvSpPr>
          <p:cNvPr id="3" name="内容占位符 2">
            <a:extLst>
              <a:ext uri="{FF2B5EF4-FFF2-40B4-BE49-F238E27FC236}">
                <a16:creationId xmlns:a16="http://schemas.microsoft.com/office/drawing/2014/main" id="{1CE46D4D-0A4F-996B-C07B-0BEE2DA9A00A}"/>
              </a:ext>
            </a:extLst>
          </p:cNvPr>
          <p:cNvSpPr>
            <a:spLocks noGrp="1"/>
          </p:cNvSpPr>
          <p:nvPr>
            <p:ph idx="1"/>
          </p:nvPr>
        </p:nvSpPr>
        <p:spPr>
          <a:xfrm>
            <a:off x="545237" y="902347"/>
            <a:ext cx="10515600" cy="5374166"/>
          </a:xfrm>
        </p:spPr>
        <p:txBody>
          <a:bodyPr>
            <a:normAutofit/>
          </a:bodyPr>
          <a:lstStyle/>
          <a:p>
            <a:r>
              <a:rPr lang="zh-CN" altLang="en-US" sz="1800" dirty="0"/>
              <a:t>同一抬头系统限制累计开票金额不超过十万，开票超</a:t>
            </a:r>
            <a:r>
              <a:rPr lang="en-US" altLang="zh-CN" sz="1800" dirty="0"/>
              <a:t>10</a:t>
            </a:r>
            <a:r>
              <a:rPr lang="zh-CN" altLang="en-US" sz="1800" dirty="0"/>
              <a:t>万系统会有提示，无法继续开具发票，流程如下：</a:t>
            </a:r>
            <a:endParaRPr lang="en-US" altLang="zh-CN" sz="1800" dirty="0"/>
          </a:p>
          <a:p>
            <a:pPr marL="0" indent="0">
              <a:buNone/>
            </a:pPr>
            <a:r>
              <a:rPr lang="en-US" altLang="zh-CN" sz="1800" dirty="0"/>
              <a:t>1.</a:t>
            </a:r>
            <a:r>
              <a:rPr lang="zh-CN" altLang="en-US" sz="1800" dirty="0"/>
              <a:t>建立需要开具发票抬头名称的机构客户（只需建立，不需要绑定）；</a:t>
            </a:r>
            <a:endParaRPr lang="en-US" altLang="zh-CN" sz="1800" dirty="0"/>
          </a:p>
          <a:p>
            <a:pPr marL="0" indent="0">
              <a:buNone/>
            </a:pPr>
            <a:r>
              <a:rPr lang="en-US" altLang="zh-CN" sz="1800" dirty="0"/>
              <a:t>2.OA</a:t>
            </a:r>
            <a:r>
              <a:rPr lang="zh-CN" altLang="en-US" sz="1800" dirty="0"/>
              <a:t>王鑫总，写明：订单号团号，付款方式和金额，各抬头需要开具发票的金额，王鑫总同意确认后会转发郑希文，提高该客户的开票额度，大家自行开具发票；</a:t>
            </a:r>
            <a:endParaRPr lang="en-US" altLang="zh-CN" sz="1800" dirty="0"/>
          </a:p>
          <a:p>
            <a:pPr marL="0" indent="0">
              <a:buNone/>
            </a:pPr>
            <a:r>
              <a:rPr lang="en-US" altLang="zh-CN" sz="1800" dirty="0"/>
              <a:t>3.</a:t>
            </a:r>
            <a:r>
              <a:rPr lang="zh-CN" altLang="en-US" sz="1800" dirty="0"/>
              <a:t>业务开票金额单张限制</a:t>
            </a:r>
            <a:r>
              <a:rPr lang="en-US" altLang="zh-CN" sz="1800" dirty="0"/>
              <a:t>10</a:t>
            </a:r>
            <a:r>
              <a:rPr lang="zh-CN" altLang="en-US" sz="1800" dirty="0"/>
              <a:t>万以内，如需单张超</a:t>
            </a:r>
            <a:r>
              <a:rPr lang="en-US" altLang="zh-CN" sz="1800" dirty="0"/>
              <a:t>10</a:t>
            </a:r>
            <a:r>
              <a:rPr lang="zh-CN" altLang="en-US" sz="1800" dirty="0"/>
              <a:t>万的发票可以联系财务</a:t>
            </a:r>
            <a:endParaRPr lang="en-US" altLang="zh-CN" sz="1800" dirty="0"/>
          </a:p>
          <a:p>
            <a:pPr marL="0" indent="0">
              <a:buNone/>
            </a:pPr>
            <a:r>
              <a:rPr lang="en-US" altLang="zh-CN" sz="1800" dirty="0"/>
              <a:t>4.</a:t>
            </a:r>
            <a:r>
              <a:rPr lang="zh-CN" altLang="en-US" sz="1800" dirty="0"/>
              <a:t>不同系统不同税率的订单无法合并开一张发票，如有客人报名出境游同时有签证和团队游订单，需要合并开一张超十万发票，这种情况无法开具。</a:t>
            </a:r>
            <a:endParaRPr lang="en-US" altLang="zh-CN" sz="1800" dirty="0"/>
          </a:p>
          <a:p>
            <a:pPr marL="0" indent="0">
              <a:buNone/>
            </a:pPr>
            <a:endParaRPr lang="en-US" altLang="zh-CN" sz="1800" dirty="0"/>
          </a:p>
          <a:p>
            <a:pPr marL="0" indent="0">
              <a:buNone/>
            </a:pPr>
            <a:r>
              <a:rPr lang="zh-CN" altLang="en-US" sz="1800" dirty="0"/>
              <a:t>特别提醒：</a:t>
            </a:r>
            <a:endParaRPr lang="en-US" altLang="zh-CN" sz="1800" dirty="0"/>
          </a:p>
          <a:p>
            <a:pPr marL="0" indent="0">
              <a:buNone/>
            </a:pPr>
            <a:r>
              <a:rPr lang="en-US" altLang="zh-CN" sz="1800" dirty="0"/>
              <a:t>1.</a:t>
            </a:r>
            <a:r>
              <a:rPr lang="zh-CN" altLang="en-US" sz="1800" dirty="0"/>
              <a:t>公对公汇款的不受系统累计开票金额超</a:t>
            </a:r>
            <a:r>
              <a:rPr lang="en-US" altLang="zh-CN" sz="1800" dirty="0"/>
              <a:t>10</a:t>
            </a:r>
            <a:r>
              <a:rPr lang="zh-CN" altLang="en-US" sz="1800" dirty="0"/>
              <a:t>万的限制；</a:t>
            </a:r>
            <a:endParaRPr lang="en-US" altLang="zh-CN" sz="1800" dirty="0"/>
          </a:p>
          <a:p>
            <a:pPr marL="0" indent="0">
              <a:buNone/>
            </a:pPr>
            <a:r>
              <a:rPr lang="en-US" altLang="zh-CN" sz="1800" dirty="0"/>
              <a:t>2.</a:t>
            </a:r>
            <a:r>
              <a:rPr lang="zh-CN" altLang="en-US" sz="1800" dirty="0"/>
              <a:t>提供疗休养协议的疗休养客户，工会团挂帐客户，借开发票的，超十万的只需走借开流程</a:t>
            </a:r>
            <a:endParaRPr lang="en-US" altLang="zh-CN" sz="1800" dirty="0"/>
          </a:p>
        </p:txBody>
      </p:sp>
    </p:spTree>
    <p:extLst>
      <p:ext uri="{BB962C8B-B14F-4D97-AF65-F5344CB8AC3E}">
        <p14:creationId xmlns:p14="http://schemas.microsoft.com/office/powerpoint/2010/main" val="651403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36E30C-8B8A-006F-3837-CEEECAE0421D}"/>
              </a:ext>
            </a:extLst>
          </p:cNvPr>
          <p:cNvSpPr>
            <a:spLocks noGrp="1"/>
          </p:cNvSpPr>
          <p:nvPr>
            <p:ph type="title"/>
          </p:nvPr>
        </p:nvSpPr>
        <p:spPr>
          <a:xfrm>
            <a:off x="838200" y="365126"/>
            <a:ext cx="10515600" cy="315912"/>
          </a:xfrm>
        </p:spPr>
        <p:txBody>
          <a:bodyPr>
            <a:normAutofit fontScale="90000"/>
          </a:bodyPr>
          <a:lstStyle/>
          <a:p>
            <a:r>
              <a:rPr lang="en-US" altLang="zh-CN" sz="2000" dirty="0"/>
              <a:t>4.</a:t>
            </a:r>
            <a:r>
              <a:rPr lang="zh-CN" altLang="en-US" sz="2000" dirty="0"/>
              <a:t>红冲发票流程</a:t>
            </a:r>
          </a:p>
        </p:txBody>
      </p:sp>
      <p:sp>
        <p:nvSpPr>
          <p:cNvPr id="3" name="内容占位符 2">
            <a:extLst>
              <a:ext uri="{FF2B5EF4-FFF2-40B4-BE49-F238E27FC236}">
                <a16:creationId xmlns:a16="http://schemas.microsoft.com/office/drawing/2014/main" id="{E98CDD48-C79A-0F15-960A-5E9CB0E74AD5}"/>
              </a:ext>
            </a:extLst>
          </p:cNvPr>
          <p:cNvSpPr>
            <a:spLocks noGrp="1"/>
          </p:cNvSpPr>
          <p:nvPr>
            <p:ph idx="1"/>
          </p:nvPr>
        </p:nvSpPr>
        <p:spPr>
          <a:xfrm>
            <a:off x="523783" y="798990"/>
            <a:ext cx="10830017" cy="5377973"/>
          </a:xfrm>
        </p:spPr>
        <p:txBody>
          <a:bodyPr>
            <a:normAutofit/>
          </a:bodyPr>
          <a:lstStyle/>
          <a:p>
            <a:r>
              <a:rPr lang="zh-CN" altLang="en-US" sz="1600" dirty="0"/>
              <a:t>个人抬头发票，或者公对公汇款开票需红冲的不需证明，如个人付款开公司抬头的需对方提供盖公章或者财务专用章的未入账证明，具体格式可见以下样张</a:t>
            </a:r>
            <a:endParaRPr lang="en-US" altLang="zh-CN" sz="1600" dirty="0"/>
          </a:p>
          <a:p>
            <a:endParaRPr lang="zh-CN" altLang="en-US" sz="1800" dirty="0"/>
          </a:p>
        </p:txBody>
      </p:sp>
      <p:pic>
        <p:nvPicPr>
          <p:cNvPr id="5" name="图片 4">
            <a:extLst>
              <a:ext uri="{FF2B5EF4-FFF2-40B4-BE49-F238E27FC236}">
                <a16:creationId xmlns:a16="http://schemas.microsoft.com/office/drawing/2014/main" id="{489F4723-48CB-F6E7-BBFB-787DA5098FD4}"/>
              </a:ext>
            </a:extLst>
          </p:cNvPr>
          <p:cNvPicPr>
            <a:picLocks noChangeAspect="1"/>
          </p:cNvPicPr>
          <p:nvPr/>
        </p:nvPicPr>
        <p:blipFill>
          <a:blip r:embed="rId2"/>
          <a:stretch>
            <a:fillRect/>
          </a:stretch>
        </p:blipFill>
        <p:spPr>
          <a:xfrm>
            <a:off x="4058839" y="1468760"/>
            <a:ext cx="3922187" cy="4826155"/>
          </a:xfrm>
          <a:prstGeom prst="rect">
            <a:avLst/>
          </a:prstGeom>
        </p:spPr>
      </p:pic>
    </p:spTree>
    <p:extLst>
      <p:ext uri="{BB962C8B-B14F-4D97-AF65-F5344CB8AC3E}">
        <p14:creationId xmlns:p14="http://schemas.microsoft.com/office/powerpoint/2010/main" val="66106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AFF82-3D33-1272-2B77-F70FE3F29292}"/>
              </a:ext>
            </a:extLst>
          </p:cNvPr>
          <p:cNvSpPr>
            <a:spLocks noGrp="1"/>
          </p:cNvSpPr>
          <p:nvPr>
            <p:ph type="title"/>
          </p:nvPr>
        </p:nvSpPr>
        <p:spPr>
          <a:xfrm>
            <a:off x="204186" y="365126"/>
            <a:ext cx="11149614" cy="315912"/>
          </a:xfrm>
        </p:spPr>
        <p:txBody>
          <a:bodyPr>
            <a:noAutofit/>
          </a:bodyPr>
          <a:lstStyle/>
          <a:p>
            <a:r>
              <a:rPr lang="en-US" altLang="zh-CN" sz="2800" dirty="0"/>
              <a:t>2.</a:t>
            </a:r>
            <a:r>
              <a:rPr lang="zh-CN" altLang="en-US" sz="2800" dirty="0"/>
              <a:t>对方无法提供未入账证明的情况：</a:t>
            </a:r>
          </a:p>
        </p:txBody>
      </p:sp>
      <p:sp>
        <p:nvSpPr>
          <p:cNvPr id="3" name="内容占位符 2">
            <a:extLst>
              <a:ext uri="{FF2B5EF4-FFF2-40B4-BE49-F238E27FC236}">
                <a16:creationId xmlns:a16="http://schemas.microsoft.com/office/drawing/2014/main" id="{EB283272-58BD-BED2-E70B-78271DFD1CE3}"/>
              </a:ext>
            </a:extLst>
          </p:cNvPr>
          <p:cNvSpPr>
            <a:spLocks noGrp="1"/>
          </p:cNvSpPr>
          <p:nvPr>
            <p:ph idx="1"/>
          </p:nvPr>
        </p:nvSpPr>
        <p:spPr>
          <a:xfrm>
            <a:off x="390617" y="807868"/>
            <a:ext cx="10963183" cy="5369095"/>
          </a:xfrm>
        </p:spPr>
        <p:txBody>
          <a:bodyPr/>
          <a:lstStyle/>
          <a:p>
            <a:pPr marL="0" indent="0">
              <a:buNone/>
            </a:pPr>
            <a:r>
              <a:rPr lang="en-US" altLang="zh-CN" sz="1800" dirty="0"/>
              <a:t>       </a:t>
            </a:r>
            <a:r>
              <a:rPr lang="zh-CN" altLang="en-US" sz="1800" dirty="0"/>
              <a:t>业务走</a:t>
            </a:r>
            <a:r>
              <a:rPr lang="en-US" altLang="zh-CN" sz="1800" dirty="0"/>
              <a:t>OA</a:t>
            </a:r>
            <a:r>
              <a:rPr lang="zh-CN" altLang="en-US" sz="1800" dirty="0"/>
              <a:t>流程发王鑫总，说明：订单号，团号，开具了</a:t>
            </a:r>
            <a:r>
              <a:rPr lang="en-US" altLang="zh-CN" sz="1800" dirty="0"/>
              <a:t>***</a:t>
            </a:r>
            <a:r>
              <a:rPr lang="zh-CN" altLang="en-US" sz="1800" dirty="0"/>
              <a:t>抬头发票，因为什么原因，需要退款</a:t>
            </a:r>
            <a:r>
              <a:rPr lang="en-US" altLang="zh-CN" sz="1800" dirty="0"/>
              <a:t>***</a:t>
            </a:r>
            <a:r>
              <a:rPr lang="zh-CN" altLang="en-US" sz="1800" dirty="0"/>
              <a:t>（或者换开</a:t>
            </a:r>
            <a:r>
              <a:rPr lang="en-US" altLang="zh-CN" sz="1800" dirty="0"/>
              <a:t>***</a:t>
            </a:r>
            <a:r>
              <a:rPr lang="zh-CN" altLang="en-US" sz="1800" dirty="0"/>
              <a:t>发票，附上开票信息），需红冲原发票：原发票号，金额，客人不能提供未入账证明的原因。</a:t>
            </a:r>
            <a:endParaRPr lang="en-US" altLang="zh-CN" sz="1800" dirty="0"/>
          </a:p>
          <a:p>
            <a:pPr marL="0" indent="0">
              <a:buNone/>
            </a:pPr>
            <a:r>
              <a:rPr lang="en-US" altLang="zh-CN" sz="1800" dirty="0"/>
              <a:t>         </a:t>
            </a:r>
            <a:r>
              <a:rPr lang="zh-CN" altLang="en-US" sz="1800" dirty="0"/>
              <a:t>建议附上和客人的聊天截图，聊天记录中尽量体现发票号和金额。</a:t>
            </a:r>
            <a:br>
              <a:rPr lang="en-US" altLang="zh-CN" dirty="0"/>
            </a:br>
            <a:endParaRPr lang="zh-CN" altLang="en-US" dirty="0"/>
          </a:p>
        </p:txBody>
      </p:sp>
    </p:spTree>
    <p:extLst>
      <p:ext uri="{BB962C8B-B14F-4D97-AF65-F5344CB8AC3E}">
        <p14:creationId xmlns:p14="http://schemas.microsoft.com/office/powerpoint/2010/main" val="177274738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TotalTime>
  <Words>821</Words>
  <Application>Microsoft Office PowerPoint</Application>
  <PresentationFormat>宽屏</PresentationFormat>
  <Paragraphs>79</Paragraphs>
  <Slides>9</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9</vt:i4>
      </vt:variant>
    </vt:vector>
  </HeadingPairs>
  <TitlesOfParts>
    <vt:vector size="13" baseType="lpstr">
      <vt:lpstr>等线</vt:lpstr>
      <vt:lpstr>等线 Light</vt:lpstr>
      <vt:lpstr>Arial</vt:lpstr>
      <vt:lpstr>Office 主题​​</vt:lpstr>
      <vt:lpstr>发票培训</vt:lpstr>
      <vt:lpstr>1.春秋能开具发票的内容 常规发票内容：</vt:lpstr>
      <vt:lpstr>关于开具会务和现代服务的发票要签订相应合同并且加收6%的税点的操作，注意2026年6月1日后前缀均为“生产生活服务”，现用需开会务费的情况举例： 首先：签订会务合同，合同中的金额是加收6%税费后的金额</vt:lpstr>
      <vt:lpstr>订单以及付款记录的操作：</vt:lpstr>
      <vt:lpstr>2.借开发票的流程</vt:lpstr>
      <vt:lpstr>      王鑫总同意借开发票后填写市场部借开发票的共享文档（每个月都会更新一版），财务处会按填写的先后顺序开具发票，如客人要求单价人数需要开特殊发票的，请在订单付款备注中注明（特殊发票不与订单关联，需在订单记录中手输发票号码），如果借开发票后金额发生变化需要红冲的，在取得红冲流程后（客人盖公章的未入账证明或者领导同意红冲的OA流程）在借开发票的表格中输入负数，借开的流程和红冲流程及时交财务。</vt:lpstr>
      <vt:lpstr>3.开具超十万发票流程 </vt:lpstr>
      <vt:lpstr>4.红冲发票流程</vt:lpstr>
      <vt:lpstr>2.对方无法提供未入账证明的情况：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朱亚琴</dc:creator>
  <cp:lastModifiedBy>朱亚琴</cp:lastModifiedBy>
  <cp:revision>16</cp:revision>
  <dcterms:created xsi:type="dcterms:W3CDTF">2025-09-11T01:47:07Z</dcterms:created>
  <dcterms:modified xsi:type="dcterms:W3CDTF">2026-06-12T09:47:28Z</dcterms:modified>
</cp:coreProperties>
</file>